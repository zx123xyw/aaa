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1" r:id="rId7"/>
    <p:sldId id="289" r:id="rId8"/>
    <p:sldId id="262" r:id="rId9"/>
    <p:sldId id="282" r:id="rId10"/>
    <p:sldId id="295" r:id="rId11"/>
    <p:sldId id="297" r:id="rId12"/>
    <p:sldId id="298" r:id="rId13"/>
    <p:sldId id="264" r:id="rId14"/>
    <p:sldId id="266" r:id="rId15"/>
    <p:sldId id="299" r:id="rId16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  <p:cmAuthor id="5" name="鑫 曾" initials="鑫曾" lastIdx="1" clrIdx="4">
    <p:extLst>
      <p:ext uri="{19B8F6BF-5375-455C-9EA6-DF929625EA0E}">
        <p15:presenceInfo xmlns:p15="http://schemas.microsoft.com/office/powerpoint/2012/main" userId="f28a5b92b9be7a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45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20" y="10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" dt="2025-11-03T10:13:37.404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CF7363-46B3-4791-B1F1-74C9C73C71E6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2025/11/3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51558A8-E2C3-4D4F-B74A-F34DB9A5CC63}" type="datetime1">
              <a:rPr lang="zh-CN" altLang="en-US" noProof="0" smtClean="0"/>
              <a:t>2025/11/3</a:t>
            </a:fld>
            <a:endParaRPr lang="zh-CN" altLang="en-US" noProof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4B9A9E5-4F7F-4A7D-9DE1-899232329269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0056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6614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7656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0364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751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217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B95D8-ACF0-1604-F8D2-607420C1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32E7F1-65A8-0EDF-76F1-02643315D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2833F-3065-A254-D463-267232AB8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35941E-A013-880A-BE02-7620D9D4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956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6B74-47A0-6102-790E-849E76F7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AE7E50-D110-B398-2699-44E0738B1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0EB2F6-B81B-BFEE-4E7E-B40D75EB8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AA530E-A2B5-8A2D-5737-ED9AF1396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1712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8F4C7-688F-1831-05F2-F5F694AD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4EE29F-A76B-E2D1-508F-C38BFD867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26A395-5949-9ECD-B18F-E49139BD3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0A334-022A-9784-9A19-AFB560F94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4131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3166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7291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70410-D264-CAB9-9385-BA3BBFB8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FD81FE-F44D-FB0F-7FD8-D57D0C215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464FE3-8673-5B71-809F-166F81866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C1924E-FC57-D5F5-C8B4-155B72445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76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议程​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日程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形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单击此处编辑标题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7" name="文本占位符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8" name="文本占位符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9" name="文本占位符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34" name="文本占位符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5" name="文本占位符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6" name="文本占位符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7" name="文本占位符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cxnSp>
        <p:nvCxnSpPr>
          <p:cNvPr id="3" name="直接连接符​​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3 列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7" name="文本占位符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1" name="文本占位符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32" name="文本占位符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3" name="文本占位符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34" name="文本占位符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2" name="文本占位符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13" name="文本占位符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2" name="直接连接符​​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2 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7" name="文本占位符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9" name="文本占位符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0" name="文本占位符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3" name="文本占位符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4" name="文本占位符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简介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11" name="幻灯片编号占位符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符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2" name="文本占位符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3" name="文本占位符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4" name="文本占位符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6" name="文本占位符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7" name="日期占位符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8" name="页脚占位符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19" name="灯片编号占位符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场比较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内容占位符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内容占位符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两栏内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形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标题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20" name="文本占位符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5" name="文本占位符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6" name="文本占位符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7" name="文本占位符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8" name="文本占位符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9" name="文本占位符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1" name="日期占位符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22" name="页脚占位符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24" name="幻灯片编号占位符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长方形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6" name="文本占位符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年</a:t>
            </a:r>
            <a:endParaRPr lang="zh-CN" altLang="en-ZA" noProof="0"/>
          </a:p>
        </p:txBody>
      </p:sp>
      <p:sp>
        <p:nvSpPr>
          <p:cNvPr id="7" name="文本占位符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8" name="文本占位符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9" name="文本占位符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0" name="文本占位符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年</a:t>
            </a:r>
            <a:endParaRPr lang="zh-CN" altLang="en-ZA" noProof="0"/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3" name="文本占位符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4" name="文本占位符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5" name="文本占位符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6" name="文本占位符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7" name="文本占位符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8" name="文本占位符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9" name="文本占位符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0" name="文本占位符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1" name="文本占位符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2" name="文本占位符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3" name="文本占位符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4" name="文本占位符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5" name="文本占位符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6" name="文本占位符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7" name="文本占位符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8" name="文本占位符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9" name="文本占位符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0" name="文本占位符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1" name="文本占位符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2" name="长方形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ZA" noProof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6" name="日期占位符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37" name="页脚占位符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38" name="灯片编号占位符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占位符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 </a:t>
            </a:r>
            <a:r>
              <a:rPr lang="en-US" altLang="zh-CN" noProof="0"/>
              <a:t>SmartArt </a:t>
            </a:r>
            <a:r>
              <a:rPr lang="zh-CN" altLang="en-US" noProof="0"/>
              <a:t>图形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团队幻灯片 4 人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7" name="图片占位符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8" name="图片占位符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19" name="图片占位符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团队幻灯片 8 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7" name="图片占位符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8" name="图片占位符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19" name="图片占位符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55" name="图片占位符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6" name="图片占位符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7" name="图片占位符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58" name="图片占位符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4" name="文本占位符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4" name="内容占位符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8" name="文本占位符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单击以编辑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5" name="内容占位符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内容占位符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23" name="直接连接符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日期占位符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22" name="页脚占位符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24" name="幻灯片编号占位符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结束语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日期占位符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zh-CN" altLang="en-US" noProof="0"/>
              <a:t>融资演讲稿</a:t>
            </a:r>
          </a:p>
        </p:txBody>
      </p:sp>
      <p:sp>
        <p:nvSpPr>
          <p:cNvPr id="11" name="幻灯片编号占位符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547850"/>
            <a:ext cx="10668000" cy="2118360"/>
          </a:xfrm>
        </p:spPr>
        <p:txBody>
          <a:bodyPr rtlCol="0"/>
          <a:lstStyle/>
          <a:p>
            <a:pPr algn="ctr"/>
            <a:r>
              <a:rPr lang="zh-CN" altLang="en-US" sz="4800" dirty="0"/>
              <a:t>餐厅自动化系统・清洁员（</a:t>
            </a:r>
            <a:r>
              <a:rPr lang="en-US" altLang="zh-CN" sz="4800" dirty="0"/>
              <a:t>Busboy</a:t>
            </a:r>
            <a:r>
              <a:rPr lang="zh-CN" altLang="en-US" sz="4800" dirty="0"/>
              <a:t>）角色深度解析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8800" dirty="0"/>
              <a:t>目录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4152901" cy="2534516"/>
          </a:xfrm>
        </p:spPr>
        <p:txBody>
          <a:bodyPr rtlCol="0">
            <a:normAutofit fontScale="92500" lnSpcReduction="20000"/>
          </a:bodyPr>
          <a:lstStyle/>
          <a:p>
            <a:r>
              <a:rPr lang="zh-CN" altLang="en-US" sz="2000" dirty="0"/>
              <a:t>角色定位与核心价值</a:t>
            </a:r>
            <a:endParaRPr lang="en-US" altLang="zh-CN" sz="2000" dirty="0"/>
          </a:p>
          <a:p>
            <a:r>
              <a:rPr lang="zh-CN" altLang="en-US" sz="2000" dirty="0"/>
              <a:t>流程图</a:t>
            </a:r>
          </a:p>
          <a:p>
            <a:r>
              <a:rPr lang="zh-CN" altLang="en-US" sz="2000" dirty="0"/>
              <a:t>用例图：清洁员的系统交互全景</a:t>
            </a:r>
          </a:p>
          <a:p>
            <a:r>
              <a:rPr lang="zh-CN" altLang="en-US" sz="2000" dirty="0"/>
              <a:t>序列图：清洁任务与状态查询流程</a:t>
            </a:r>
            <a:endParaRPr lang="en-US" altLang="zh-CN" sz="2000" dirty="0"/>
          </a:p>
          <a:p>
            <a:r>
              <a:rPr lang="zh-CN" altLang="en-US" sz="2000" dirty="0"/>
              <a:t>矩阵表格</a:t>
            </a:r>
          </a:p>
          <a:p>
            <a:r>
              <a:rPr lang="zh-CN" altLang="en-US" sz="2000" dirty="0"/>
              <a:t>系统迭代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zh-CN" smtClean="0"/>
              <a:pPr/>
              <a:t>2</a:t>
            </a:fld>
            <a:endParaRPr lang="zh-CN" altLang="en-ZA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82142" cy="585788"/>
          </a:xfrm>
        </p:spPr>
        <p:txBody>
          <a:bodyPr rtlCol="0"/>
          <a:lstStyle/>
          <a:p>
            <a:r>
              <a:rPr lang="zh-CN" altLang="en-US" b="1" dirty="0"/>
              <a:t>角色定位与核心价值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dirty="0"/>
              <a:t>核心价值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7721" y="1124259"/>
            <a:ext cx="8527311" cy="1176262"/>
          </a:xfrm>
        </p:spPr>
        <p:txBody>
          <a:bodyPr rtlCol="0">
            <a:normAutofit fontScale="25000" lnSpcReduction="20000"/>
          </a:bodyPr>
          <a:lstStyle/>
          <a:p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sz="8800" dirty="0"/>
              <a:t>通过固定终端登录系统后，查看实时楼层状态，明确餐桌的 “干净（绿色）</a:t>
            </a:r>
            <a:r>
              <a:rPr lang="en-US" altLang="zh-CN" sz="8800" dirty="0"/>
              <a:t>/ </a:t>
            </a:r>
            <a:r>
              <a:rPr lang="zh-CN" altLang="en-US" sz="8800" dirty="0"/>
              <a:t>占用（黄色）</a:t>
            </a:r>
            <a:r>
              <a:rPr lang="en-US" altLang="zh-CN" sz="8800" dirty="0"/>
              <a:t>/ </a:t>
            </a:r>
            <a:r>
              <a:rPr lang="zh-CN" altLang="en-US" sz="8800" dirty="0"/>
              <a:t>脏污（红色）” 分类，避免盲目寻找需清洁的餐桌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82142" y="2509952"/>
            <a:ext cx="7748351" cy="1010842"/>
          </a:xfrm>
        </p:spPr>
        <p:txBody>
          <a:bodyPr rtlCol="0">
            <a:normAutofit fontScale="92500" lnSpcReduction="10000"/>
          </a:bodyPr>
          <a:lstStyle/>
          <a:p>
            <a:pPr lvl="1">
              <a:lnSpc>
                <a:spcPct val="100000"/>
              </a:lnSpc>
            </a:pPr>
            <a:r>
              <a:rPr lang="zh-CN" altLang="en-US" dirty="0"/>
              <a:t>接收系统分配的清洁任务（多由前台发起，如顾客离店后餐桌变脏），按标准化流程完成清洁（更换餐具、擦拭桌面等）。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60249" y="3730226"/>
            <a:ext cx="6754125" cy="1010842"/>
          </a:xfrm>
        </p:spPr>
        <p:txBody>
          <a:bodyPr rtlCol="0">
            <a:normAutofit fontScale="92500" lnSpcReduction="10000"/>
          </a:bodyPr>
          <a:lstStyle/>
          <a:p>
            <a:pPr lvl="1">
              <a:lnSpc>
                <a:spcPct val="100000"/>
              </a:lnSpc>
            </a:pPr>
            <a:r>
              <a:rPr lang="zh-CN" altLang="en-US" dirty="0"/>
              <a:t>清洁完成后，通过系统提交 “清洁完成” 指令，触发餐桌状态更新为 “干净”，同时通知前台该餐桌可重新分配给新顾客。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CN" smtClean="0"/>
              <a:pPr/>
              <a:t>3</a:t>
            </a:fld>
            <a:endParaRPr lang="zh-CN" altLang="en-US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B676F32-91CC-46A8-96E0-E718CDA8AC0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18029" y="4824430"/>
            <a:ext cx="5696346" cy="1010842"/>
          </a:xfrm>
        </p:spPr>
        <p:txBody>
          <a:bodyPr/>
          <a:lstStyle/>
          <a:p>
            <a:r>
              <a:rPr lang="zh-CN" altLang="en-US" sz="2000" dirty="0"/>
              <a:t>与前台实时联动，响应前台发起的紧急清洁需求，支撑餐厅应对客流高峰时的餐桌周转需求。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5EBF8A-A606-D1C9-8549-1EBBD77E6196}"/>
              </a:ext>
            </a:extLst>
          </p:cNvPr>
          <p:cNvSpPr txBox="1"/>
          <p:nvPr/>
        </p:nvSpPr>
        <p:spPr>
          <a:xfrm>
            <a:off x="148317" y="654968"/>
            <a:ext cx="87296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角色定义</a:t>
            </a:r>
            <a:r>
              <a:rPr lang="zh-CN" altLang="en-US" dirty="0"/>
              <a:t>：负责餐桌清洁、状态查询的一线员工，是系统与物理场景的关键连接点。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6BEBA34-AE62-4A26-44D9-3D382B84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7" r="1820"/>
          <a:stretch>
            <a:fillRect/>
          </a:stretch>
        </p:blipFill>
        <p:spPr>
          <a:xfrm>
            <a:off x="0" y="3730226"/>
            <a:ext cx="4624521" cy="29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44" y="110837"/>
            <a:ext cx="3139440" cy="649502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3600" dirty="0"/>
              <a:t>清洁员流程图</a:t>
            </a: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CN" smtClean="0"/>
              <a:pPr rtl="0"/>
              <a:t>4</a:t>
            </a:fld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9DA48409-F7B9-B7B2-2357-C543AAA13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5195757" y="40553"/>
            <a:ext cx="4696089" cy="677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17263" y="-328353"/>
            <a:ext cx="8421688" cy="1325563"/>
          </a:xfrm>
        </p:spPr>
        <p:txBody>
          <a:bodyPr rtlCol="0"/>
          <a:lstStyle/>
          <a:p>
            <a:r>
              <a:rPr lang="zh-CN" altLang="en-US" b="1" dirty="0"/>
              <a:t>用例图：清洁员的系统交互全景</a:t>
            </a:r>
          </a:p>
        </p:txBody>
      </p:sp>
      <p:sp>
        <p:nvSpPr>
          <p:cNvPr id="80" name="日期占位符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CN"/>
              <a:t>20XX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05045BFF-9D3C-9E75-753B-1D520F908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1" y="488950"/>
            <a:ext cx="10496550" cy="636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>
            <a:extLst>
              <a:ext uri="{FF2B5EF4-FFF2-40B4-BE49-F238E27FC236}">
                <a16:creationId xmlns:a16="http://schemas.microsoft.com/office/drawing/2014/main" id="{EE838532-171C-62C1-BFE0-B9A5C9BFD1D9}"/>
              </a:ext>
            </a:extLst>
          </p:cNvPr>
          <p:cNvSpPr txBox="1"/>
          <p:nvPr/>
        </p:nvSpPr>
        <p:spPr>
          <a:xfrm>
            <a:off x="96982" y="0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650"/>
              </a:spcBef>
              <a:spcAft>
                <a:spcPts val="1650"/>
              </a:spcAft>
            </a:pPr>
            <a:r>
              <a:rPr lang="zh-CN" altLang="zh-CN" b="1" dirty="0">
                <a:latin typeface="Arial" panose="020B0604020202020204" pitchFamily="34" charset="0"/>
                <a:ea typeface="inherit"/>
              </a:rPr>
              <a:t>Use Case UC-1 </a:t>
            </a:r>
            <a:r>
              <a:rPr lang="zh-CN" altLang="en-US" b="1" i="0" dirty="0">
                <a:effectLst/>
                <a:latin typeface="-apple-system"/>
              </a:rPr>
              <a:t>：查看实时</a:t>
            </a:r>
            <a:r>
              <a:rPr lang="zh-CN" altLang="en-US" b="1" dirty="0">
                <a:latin typeface="-apple-system"/>
              </a:rPr>
              <a:t>桌面</a:t>
            </a:r>
            <a:r>
              <a:rPr lang="zh-CN" altLang="en-US" b="1" i="0" dirty="0">
                <a:effectLst/>
                <a:latin typeface="-apple-system"/>
              </a:rPr>
              <a:t>状态</a:t>
            </a: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09C264E2-C092-1E4B-B482-FAD5FE43C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176911"/>
              </p:ext>
            </p:extLst>
          </p:nvPr>
        </p:nvGraphicFramePr>
        <p:xfrm>
          <a:off x="96982" y="290181"/>
          <a:ext cx="10515600" cy="340995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065560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37027015"/>
                    </a:ext>
                  </a:extLst>
                </a:gridCol>
              </a:tblGrid>
              <a:tr h="3139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项目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说明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94361"/>
                  </a:ext>
                </a:extLst>
              </a:tr>
              <a:tr h="3139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相关要求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系统必须实时显示桌子状态（干净、脏污、占用）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98943"/>
                  </a:ext>
                </a:extLst>
              </a:tr>
              <a:tr h="3139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启动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Actor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清洁员（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Busboy）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720616"/>
                  </a:ext>
                </a:extLst>
              </a:tr>
              <a:tr h="3139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角色的目标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快速了解需要清洁的桌子和餐厅当前状态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498871"/>
                  </a:ext>
                </a:extLst>
              </a:tr>
              <a:tr h="3139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参与参与者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系统终端、数据库系统、主机（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Host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538802"/>
                  </a:ext>
                </a:extLst>
              </a:tr>
              <a:tr h="5278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
前提 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清洁员已登录系统</a:t>
                      </a:r>
                      <a:b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系统正常运行</a:t>
                      </a:r>
                      <a:b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3.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桌子状态数据可用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047188"/>
                  </a:ext>
                </a:extLst>
              </a:tr>
              <a:tr h="5469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后置条件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清洁员获得当前地板状态信息</a:t>
                      </a:r>
                      <a:b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清洁任务优先级已确定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414299"/>
                  </a:ext>
                </a:extLst>
              </a:tr>
            </a:tbl>
          </a:graphicData>
        </a:graphic>
      </p:graphicFrame>
      <p:sp>
        <p:nvSpPr>
          <p:cNvPr id="53" name="文本框 52">
            <a:extLst>
              <a:ext uri="{FF2B5EF4-FFF2-40B4-BE49-F238E27FC236}">
                <a16:creationId xmlns:a16="http://schemas.microsoft.com/office/drawing/2014/main" id="{2F17258D-9F4F-57B5-7A2A-D5C69361ABFD}"/>
              </a:ext>
            </a:extLst>
          </p:cNvPr>
          <p:cNvSpPr txBox="1"/>
          <p:nvPr/>
        </p:nvSpPr>
        <p:spPr>
          <a:xfrm>
            <a:off x="96982" y="3700131"/>
            <a:ext cx="610154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lnSpc>
                <a:spcPts val="1400"/>
              </a:lnSpc>
              <a:spcBef>
                <a:spcPts val="400"/>
              </a:spcBef>
              <a:spcAft>
                <a:spcPct val="0"/>
              </a:spcAft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主要成功场景的事件流程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26A61C9-506E-761A-9F3A-8B4B31568B8E}"/>
              </a:ext>
            </a:extLst>
          </p:cNvPr>
          <p:cNvSpPr txBox="1"/>
          <p:nvPr/>
        </p:nvSpPr>
        <p:spPr>
          <a:xfrm>
            <a:off x="202622" y="4100175"/>
            <a:ext cx="111511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→ </a:t>
            </a:r>
            <a:r>
              <a:rPr lang="en-US" altLang="zh-CN" dirty="0"/>
              <a:t>1. </a:t>
            </a:r>
            <a:r>
              <a:rPr lang="zh-CN" altLang="en-US" dirty="0"/>
              <a:t>清洁员选择</a:t>
            </a:r>
            <a:r>
              <a:rPr lang="en-US" altLang="zh-CN" dirty="0"/>
              <a:t>"</a:t>
            </a:r>
            <a:r>
              <a:rPr lang="zh-CN" altLang="en-US" dirty="0"/>
              <a:t>查看地板状态</a:t>
            </a:r>
            <a:r>
              <a:rPr lang="en-US" altLang="zh-CN" dirty="0"/>
              <a:t>"</a:t>
            </a:r>
            <a:r>
              <a:rPr lang="zh-CN" altLang="en-US" dirty="0"/>
              <a:t>菜单项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2.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显示颜色编码的地板平面图（绿色</a:t>
            </a:r>
            <a:r>
              <a:rPr lang="en-US" altLang="zh-CN" dirty="0"/>
              <a:t>=</a:t>
            </a:r>
            <a:r>
              <a:rPr lang="zh-CN" altLang="en-US" dirty="0"/>
              <a:t>干净，红色</a:t>
            </a:r>
            <a:r>
              <a:rPr lang="en-US" altLang="zh-CN" dirty="0"/>
              <a:t>=</a:t>
            </a:r>
            <a:r>
              <a:rPr lang="zh-CN" altLang="en-US" dirty="0"/>
              <a:t>脏污，黄色</a:t>
            </a:r>
            <a:r>
              <a:rPr lang="en-US" altLang="zh-CN" dirty="0"/>
              <a:t>=</a:t>
            </a:r>
            <a:r>
              <a:rPr lang="zh-CN" altLang="en-US" dirty="0"/>
              <a:t>占用）</a:t>
            </a:r>
            <a:r>
              <a:rPr lang="en-US" altLang="zh-CN" dirty="0"/>
              <a:t>(b) </a:t>
            </a:r>
            <a:r>
              <a:rPr lang="zh-CN" altLang="en-US" dirty="0"/>
              <a:t>高亮显示需要立即关注的脏污桌子</a:t>
            </a:r>
            <a:r>
              <a:rPr lang="en-US" altLang="zh-CN" dirty="0"/>
              <a:t>(c) </a:t>
            </a:r>
            <a:r>
              <a:rPr lang="zh-CN" altLang="en-US" dirty="0"/>
              <a:t>提供清洁任务优先级建议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3. </a:t>
            </a:r>
            <a:r>
              <a:rPr lang="zh-CN" altLang="en-US" dirty="0"/>
              <a:t>清洁员确认状态信息，开始清洁工作</a:t>
            </a:r>
            <a:endParaRPr lang="en-US" altLang="zh-CN" dirty="0"/>
          </a:p>
          <a:p>
            <a:r>
              <a:rPr lang="en-US" altLang="zh-CN" b="1" dirty="0">
                <a:effectLst/>
                <a:latin typeface="inherit"/>
              </a:rPr>
              <a:t>Flow of Events for Extensions (Alternate Scenarios):</a:t>
            </a:r>
            <a:r>
              <a:rPr lang="en-US" altLang="zh-CN" i="1" dirty="0">
                <a:effectLst/>
                <a:latin typeface="inherit"/>
              </a:rPr>
              <a:t> </a:t>
            </a:r>
            <a:r>
              <a:rPr lang="zh-CN" altLang="en-US" i="1" dirty="0">
                <a:effectLst/>
                <a:latin typeface="inherit"/>
              </a:rPr>
              <a:t>系统检测到多个脏污桌子需要优先处理</a:t>
            </a:r>
            <a:endParaRPr lang="en-US" altLang="zh-CN" i="1" dirty="0">
              <a:effectLst/>
              <a:latin typeface="inherit"/>
            </a:endParaRPr>
          </a:p>
          <a:p>
            <a:r>
              <a:rPr lang="zh-CN" altLang="en-US" dirty="0"/>
              <a:t> </a:t>
            </a:r>
            <a:r>
              <a:rPr lang="en-US" altLang="zh-CN" dirty="0"/>
              <a:t>1.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标识最优先清洁的桌子（基于客人等待时间）</a:t>
            </a:r>
            <a:r>
              <a:rPr lang="en-US" altLang="zh-CN" dirty="0"/>
              <a:t>(b) </a:t>
            </a:r>
            <a:r>
              <a:rPr lang="zh-CN" altLang="en-US" dirty="0"/>
              <a:t>提供最优清洁路径建议</a:t>
            </a:r>
            <a:endParaRPr lang="en-US" altLang="zh-CN" dirty="0"/>
          </a:p>
          <a:p>
            <a:r>
              <a:rPr lang="en-US" altLang="zh-CN" dirty="0"/>
              <a:t> 2. </a:t>
            </a:r>
            <a:r>
              <a:rPr lang="zh-CN" altLang="en-US" dirty="0"/>
              <a:t>清洁员按照系统建议执行清洁任务</a:t>
            </a:r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EF3D-3EF9-85C1-F9EC-DFA9C26A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4C94CF8-9315-56AC-4865-098EE207E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972110"/>
              </p:ext>
            </p:extLst>
          </p:nvPr>
        </p:nvGraphicFramePr>
        <p:xfrm>
          <a:off x="334241" y="641836"/>
          <a:ext cx="10906991" cy="3684270"/>
        </p:xfrm>
        <a:graphic>
          <a:graphicData uri="http://schemas.openxmlformats.org/drawingml/2006/table">
            <a:tbl>
              <a:tblPr/>
              <a:tblGrid>
                <a:gridCol w="5649191">
                  <a:extLst>
                    <a:ext uri="{9D8B030D-6E8A-4147-A177-3AD203B41FA5}">
                      <a16:colId xmlns:a16="http://schemas.microsoft.com/office/drawing/2014/main" val="19676832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61428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项目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说明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90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相关要求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清洁完成后必须及时更新桌子状态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62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启动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Actor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清洁员（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Busboy）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917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角色的目标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标记桌子为干净状态，供新客人使用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00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参与参与者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系统终端、数据库系统、主机（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Host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27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
前提 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清洁员已登录系统</a:t>
                      </a:r>
                      <a:b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桌子物理清洁已完成</a:t>
                      </a:r>
                      <a:b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3.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桌子当前状态为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"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脏污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"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814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后置条件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桌子状态更新为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"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干净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"</a:t>
                      </a:r>
                      <a:b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主机收到桌子可用通知</a:t>
                      </a:r>
                      <a:b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3.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清洁记录已保存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51267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08D138C-2A0E-B966-65DF-E0D838052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41" y="87838"/>
            <a:ext cx="2867773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1" dirty="0">
                <a:latin typeface="-apple-system"/>
              </a:rPr>
              <a:t>Use Case UC-2: </a:t>
            </a:r>
            <a:r>
              <a:rPr lang="zh-CN" altLang="zh-CN" b="1" dirty="0">
                <a:latin typeface="-apple-system"/>
              </a:rPr>
              <a:t>更新桌子状态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1F8CA-C0B4-C991-5236-2E1BF5D756F4}"/>
              </a:ext>
            </a:extLst>
          </p:cNvPr>
          <p:cNvSpPr txBox="1"/>
          <p:nvPr/>
        </p:nvSpPr>
        <p:spPr>
          <a:xfrm>
            <a:off x="103187" y="4327089"/>
            <a:ext cx="106560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→ 1. </a:t>
            </a:r>
            <a:r>
              <a:rPr lang="zh-CN" altLang="en-US" dirty="0"/>
              <a:t>清洁员完成桌子清洁后，在终端选择对应桌子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2. </a:t>
            </a:r>
            <a:r>
              <a:rPr lang="zh-CN" altLang="en-US" dirty="0"/>
              <a:t>清洁员选择</a:t>
            </a:r>
            <a:r>
              <a:rPr lang="en-US" altLang="zh-CN" dirty="0"/>
              <a:t>"</a:t>
            </a:r>
            <a:r>
              <a:rPr lang="zh-CN" altLang="en-US" dirty="0"/>
              <a:t>标记为干净</a:t>
            </a:r>
            <a:r>
              <a:rPr lang="en-US" altLang="zh-CN" dirty="0"/>
              <a:t>"</a:t>
            </a:r>
            <a:r>
              <a:rPr lang="zh-CN" altLang="en-US" dirty="0"/>
              <a:t>操作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3.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验证清洁员权限</a:t>
            </a:r>
            <a:r>
              <a:rPr lang="en-US" altLang="zh-CN" dirty="0"/>
              <a:t>(b) </a:t>
            </a:r>
            <a:r>
              <a:rPr lang="zh-CN" altLang="en-US" dirty="0"/>
              <a:t>更新桌子状态为</a:t>
            </a:r>
            <a:r>
              <a:rPr lang="en-US" altLang="zh-CN" dirty="0"/>
              <a:t>“</a:t>
            </a:r>
            <a:r>
              <a:rPr lang="zh-CN" altLang="en-US" dirty="0"/>
              <a:t>绿色</a:t>
            </a:r>
            <a:r>
              <a:rPr lang="en-US" altLang="zh-CN" dirty="0"/>
              <a:t>-</a:t>
            </a:r>
            <a:r>
              <a:rPr lang="zh-CN" altLang="en-US" dirty="0"/>
              <a:t>干净</a:t>
            </a:r>
            <a:r>
              <a:rPr lang="en-US" altLang="zh-CN" dirty="0"/>
              <a:t>”(c) </a:t>
            </a:r>
            <a:r>
              <a:rPr lang="zh-CN" altLang="en-US" dirty="0"/>
              <a:t>通知主机和有新桌子可用</a:t>
            </a:r>
            <a:r>
              <a:rPr lang="en-US" altLang="zh-CN" dirty="0"/>
              <a:t>(d) </a:t>
            </a:r>
            <a:r>
              <a:rPr lang="zh-CN" altLang="en-US" dirty="0"/>
              <a:t>记录清洁时间和负责人</a:t>
            </a:r>
            <a:endParaRPr lang="en-US" altLang="zh-CN" dirty="0"/>
          </a:p>
          <a:p>
            <a:r>
              <a:rPr lang="zh-CN" altLang="en-US" dirty="0"/>
              <a:t>← </a:t>
            </a:r>
            <a:r>
              <a:rPr lang="en-US" altLang="zh-CN" dirty="0"/>
              <a:t>4. </a:t>
            </a:r>
            <a:r>
              <a:rPr lang="zh-CN" altLang="en-US" dirty="0"/>
              <a:t>系统显示</a:t>
            </a:r>
            <a:r>
              <a:rPr lang="en-US" altLang="zh-CN" dirty="0"/>
              <a:t>"</a:t>
            </a:r>
            <a:r>
              <a:rPr lang="zh-CN" altLang="en-US" dirty="0"/>
              <a:t>状态更新成功</a:t>
            </a:r>
            <a:r>
              <a:rPr lang="en-US" altLang="zh-CN" dirty="0"/>
              <a:t>"</a:t>
            </a:r>
            <a:r>
              <a:rPr lang="zh-CN" altLang="en-US" dirty="0"/>
              <a:t>确认信息</a:t>
            </a:r>
            <a:endParaRPr lang="en-US" altLang="zh-CN" dirty="0"/>
          </a:p>
          <a:p>
            <a:r>
              <a:rPr lang="zh-CN" altLang="en-US" b="1" dirty="0">
                <a:latin typeface="inherit"/>
              </a:rPr>
              <a:t>扩展的事件流（备用方案）：</a:t>
            </a:r>
            <a:r>
              <a:rPr lang="en-US" altLang="zh-CN" i="1" dirty="0">
                <a:effectLst/>
                <a:latin typeface="inherit"/>
              </a:rPr>
              <a:t> </a:t>
            </a:r>
            <a:r>
              <a:rPr lang="zh-CN" altLang="en-US" i="1" dirty="0">
                <a:effectLst/>
                <a:latin typeface="inherit"/>
              </a:rPr>
              <a:t>系统检测到桌子状态冲突（如仍有订单进行）</a:t>
            </a:r>
            <a:endParaRPr lang="en-US" altLang="zh-CN" i="1" dirty="0">
              <a:effectLst/>
              <a:latin typeface="inherit"/>
            </a:endParaRPr>
          </a:p>
          <a:p>
            <a:r>
              <a:rPr lang="zh-CN" altLang="en-US" dirty="0"/>
              <a:t>→ </a:t>
            </a:r>
            <a:r>
              <a:rPr lang="en-US" altLang="zh-CN" dirty="0"/>
              <a:t>1.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显示警告：</a:t>
            </a:r>
            <a:r>
              <a:rPr lang="en-US" altLang="zh-CN" dirty="0"/>
              <a:t>"</a:t>
            </a:r>
            <a:r>
              <a:rPr lang="zh-CN" altLang="en-US" dirty="0"/>
              <a:t>无法更新状态</a:t>
            </a:r>
            <a:r>
              <a:rPr lang="en-US" altLang="zh-CN" dirty="0"/>
              <a:t>-</a:t>
            </a:r>
            <a:r>
              <a:rPr lang="zh-CN" altLang="en-US" dirty="0"/>
              <a:t>桌子仍有活动订单</a:t>
            </a:r>
            <a:r>
              <a:rPr lang="en-US" altLang="zh-CN" dirty="0"/>
              <a:t>"(b) </a:t>
            </a:r>
            <a:r>
              <a:rPr lang="zh-CN" altLang="en-US" dirty="0"/>
              <a:t>提示清洁员联系服务员确认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2. </a:t>
            </a:r>
            <a:r>
              <a:rPr lang="zh-CN" altLang="en-US" dirty="0"/>
              <a:t>清洁员解决状态冲突后重试更新操作</a:t>
            </a:r>
          </a:p>
        </p:txBody>
      </p:sp>
    </p:spTree>
    <p:extLst>
      <p:ext uri="{BB962C8B-B14F-4D97-AF65-F5344CB8AC3E}">
        <p14:creationId xmlns:p14="http://schemas.microsoft.com/office/powerpoint/2010/main" val="232171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56A42-5721-EA5E-8284-9A0700AFE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DB816AC-A4F3-B111-B060-C4F4FC309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293704"/>
              </p:ext>
            </p:extLst>
          </p:nvPr>
        </p:nvGraphicFramePr>
        <p:xfrm>
          <a:off x="334241" y="641836"/>
          <a:ext cx="10906991" cy="3409950"/>
        </p:xfrm>
        <a:graphic>
          <a:graphicData uri="http://schemas.openxmlformats.org/drawingml/2006/table">
            <a:tbl>
              <a:tblPr/>
              <a:tblGrid>
                <a:gridCol w="5649191">
                  <a:extLst>
                    <a:ext uri="{9D8B030D-6E8A-4147-A177-3AD203B41FA5}">
                      <a16:colId xmlns:a16="http://schemas.microsoft.com/office/drawing/2014/main" val="19676832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61428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项目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说明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90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相关要求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所有员工必须通过认证才能使用系统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62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启动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Actor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清洁员（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Busboy）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917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角色的目标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安全访问餐厅自动化系统功能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00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参与参与者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系统终端、数据库系统、主机（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Host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27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前提 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终端设备正常运行</a:t>
                      </a:r>
                      <a:b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清洁员拥有有效账户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814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后置条件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清洁员成功登录系统</a:t>
                      </a:r>
                      <a:b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分配适当权限</a:t>
                      </a:r>
                      <a:b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3.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记录登录时间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51267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1EC0B3B-E162-9D0E-C230-E550D83BC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41" y="84087"/>
            <a:ext cx="23532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latin typeface="-apple-system"/>
              </a:rPr>
              <a:t>Use Case UC-3:</a:t>
            </a:r>
            <a:r>
              <a:rPr lang="zh-CN" altLang="en-US" b="1" dirty="0"/>
              <a:t>登录系统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A6A9EF-3DFC-F534-EB88-AB2F8ED74DDB}"/>
              </a:ext>
            </a:extLst>
          </p:cNvPr>
          <p:cNvSpPr txBox="1"/>
          <p:nvPr/>
        </p:nvSpPr>
        <p:spPr>
          <a:xfrm>
            <a:off x="103187" y="4130239"/>
            <a:ext cx="1065602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→ </a:t>
            </a:r>
            <a:r>
              <a:rPr lang="en-US" altLang="zh-CN" dirty="0"/>
              <a:t>1. </a:t>
            </a:r>
            <a:r>
              <a:rPr lang="zh-CN" altLang="en-US" dirty="0"/>
              <a:t>清洁员在终端触摸屏选择</a:t>
            </a:r>
            <a:r>
              <a:rPr lang="en-US" altLang="zh-CN" dirty="0"/>
              <a:t>"</a:t>
            </a:r>
            <a:r>
              <a:rPr lang="zh-CN" altLang="en-US" dirty="0"/>
              <a:t>清洁员</a:t>
            </a:r>
            <a:r>
              <a:rPr lang="en-US" altLang="zh-CN" dirty="0"/>
              <a:t>"</a:t>
            </a:r>
            <a:r>
              <a:rPr lang="zh-CN" altLang="en-US" dirty="0"/>
              <a:t>角色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2. </a:t>
            </a:r>
            <a:r>
              <a:rPr lang="zh-CN" altLang="en-US" dirty="0"/>
              <a:t>系统显示登录界面，要求输入凭证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3. </a:t>
            </a:r>
            <a:r>
              <a:rPr lang="zh-CN" altLang="en-US" dirty="0"/>
              <a:t>清洁员输入员工</a:t>
            </a:r>
            <a:r>
              <a:rPr lang="en-US" altLang="zh-CN" dirty="0"/>
              <a:t>ID</a:t>
            </a:r>
            <a:r>
              <a:rPr lang="zh-CN" altLang="en-US" dirty="0"/>
              <a:t>和密码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4.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验证凭证有效性</a:t>
            </a:r>
            <a:r>
              <a:rPr lang="en-US" altLang="zh-CN" dirty="0"/>
              <a:t>(b) </a:t>
            </a:r>
            <a:r>
              <a:rPr lang="zh-CN" altLang="en-US" dirty="0"/>
              <a:t>检查用户权限</a:t>
            </a:r>
            <a:r>
              <a:rPr lang="en-US" altLang="zh-CN" dirty="0"/>
              <a:t>(c) </a:t>
            </a:r>
            <a:r>
              <a:rPr lang="zh-CN" altLang="en-US" dirty="0"/>
              <a:t>创建用户会话</a:t>
            </a:r>
            <a:r>
              <a:rPr lang="en-US" altLang="zh-CN" dirty="0"/>
              <a:t>(d) </a:t>
            </a:r>
            <a:r>
              <a:rPr lang="zh-CN" altLang="en-US" dirty="0"/>
              <a:t>显示清洁员专用主界面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5. </a:t>
            </a:r>
            <a:r>
              <a:rPr lang="zh-CN" altLang="en-US" dirty="0"/>
              <a:t>清洁员获得系统访问权限</a:t>
            </a:r>
            <a:endParaRPr lang="en-US" altLang="zh-CN" dirty="0"/>
          </a:p>
          <a:p>
            <a:r>
              <a:rPr lang="zh-CN" altLang="en-US" b="1" dirty="0">
                <a:latin typeface="inherit"/>
              </a:rPr>
              <a:t>扩展的事件流（备用方案）：</a:t>
            </a:r>
            <a:endParaRPr lang="en-US" altLang="zh-CN" b="1" dirty="0">
              <a:latin typeface="inherit"/>
            </a:endParaRPr>
          </a:p>
          <a:p>
            <a:r>
              <a:rPr lang="zh-CN" altLang="en-US" i="1" dirty="0"/>
              <a:t>身份验证失败：</a:t>
            </a:r>
            <a:endParaRPr lang="en-US" altLang="zh-CN" i="1" dirty="0"/>
          </a:p>
          <a:p>
            <a:r>
              <a:rPr lang="zh-CN" altLang="en-US" dirty="0"/>
              <a:t>→ </a:t>
            </a:r>
            <a:r>
              <a:rPr lang="en-US" altLang="zh-CN" dirty="0"/>
              <a:t>1.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显示错误信息：</a:t>
            </a:r>
            <a:r>
              <a:rPr lang="en-US" altLang="zh-CN" dirty="0"/>
              <a:t>"</a:t>
            </a:r>
            <a:r>
              <a:rPr lang="zh-CN" altLang="en-US" dirty="0"/>
              <a:t>登录失败</a:t>
            </a:r>
            <a:r>
              <a:rPr lang="en-US" altLang="zh-CN" dirty="0"/>
              <a:t>-</a:t>
            </a:r>
            <a:r>
              <a:rPr lang="zh-CN" altLang="en-US" dirty="0"/>
              <a:t>请检查凭证</a:t>
            </a:r>
            <a:r>
              <a:rPr lang="en-US" altLang="zh-CN" dirty="0"/>
              <a:t>"(b) </a:t>
            </a:r>
            <a:r>
              <a:rPr lang="zh-CN" altLang="en-US" dirty="0"/>
              <a:t>提供重试或找回密码选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2. </a:t>
            </a:r>
            <a:r>
              <a:rPr lang="zh-CN" altLang="en-US" dirty="0"/>
              <a:t>清洁员重新输入正确凭证或寻求管理员帮助</a:t>
            </a:r>
          </a:p>
        </p:txBody>
      </p:sp>
    </p:spTree>
    <p:extLst>
      <p:ext uri="{BB962C8B-B14F-4D97-AF65-F5344CB8AC3E}">
        <p14:creationId xmlns:p14="http://schemas.microsoft.com/office/powerpoint/2010/main" val="314607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A319-8F5B-2CFB-21B3-7784B3D6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4AEBEE2-0C2C-2833-06F8-0B3D31CF6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373859"/>
              </p:ext>
            </p:extLst>
          </p:nvPr>
        </p:nvGraphicFramePr>
        <p:xfrm>
          <a:off x="334241" y="641836"/>
          <a:ext cx="10906991" cy="3135630"/>
        </p:xfrm>
        <a:graphic>
          <a:graphicData uri="http://schemas.openxmlformats.org/drawingml/2006/table">
            <a:tbl>
              <a:tblPr/>
              <a:tblGrid>
                <a:gridCol w="5649191">
                  <a:extLst>
                    <a:ext uri="{9D8B030D-6E8A-4147-A177-3AD203B41FA5}">
                      <a16:colId xmlns:a16="http://schemas.microsoft.com/office/drawing/2014/main" val="19676832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61428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项目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说明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90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相关要求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系统必须主动通知清洁需求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62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启动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Actor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系统（迎宾员反馈）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917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角色的目标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及时获知需要清洁的桌子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00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参与参与者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清洁员、订单管理系统、迎宾员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27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前提 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清洁员已登录</a:t>
                      </a:r>
                      <a:b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系统监控功能正常运行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814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后置条件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1.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清洁员收到通知</a:t>
                      </a:r>
                      <a:b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2.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清洁任务被确认</a:t>
                      </a:r>
                    </a:p>
                  </a:txBody>
                  <a:tcPr marR="57150" marT="47625" marB="47625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51267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3564EFB-9074-A9C3-6401-C16CB3E21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41" y="84087"/>
            <a:ext cx="363561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latin typeface="-apple-system"/>
              </a:rPr>
              <a:t>Use Case UC-4:</a:t>
            </a:r>
            <a:r>
              <a:rPr lang="zh-CN" altLang="en-US" b="1" dirty="0"/>
              <a:t>用例</a:t>
            </a:r>
            <a:r>
              <a:rPr lang="en-US" altLang="zh-CN" b="1" dirty="0"/>
              <a:t>4</a:t>
            </a:r>
            <a:r>
              <a:rPr lang="zh-CN" altLang="en-US" b="1" dirty="0"/>
              <a:t>：接收清洁通知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2D0E82-83A1-95BE-9810-E9FD94F851CD}"/>
              </a:ext>
            </a:extLst>
          </p:cNvPr>
          <p:cNvSpPr txBox="1"/>
          <p:nvPr/>
        </p:nvSpPr>
        <p:spPr>
          <a:xfrm>
            <a:off x="103187" y="4130239"/>
            <a:ext cx="106560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→ </a:t>
            </a:r>
            <a:r>
              <a:rPr lang="en-US" altLang="zh-CN" dirty="0"/>
              <a:t>1. </a:t>
            </a:r>
            <a:r>
              <a:rPr lang="zh-CN" altLang="en-US" dirty="0"/>
              <a:t>系统检测到客人离开桌子（通过订单完成或传感器）</a:t>
            </a:r>
            <a:endParaRPr lang="en-US" altLang="zh-CN" dirty="0"/>
          </a:p>
          <a:p>
            <a:r>
              <a:rPr lang="zh-CN" altLang="en-US" dirty="0"/>
              <a:t>→ </a:t>
            </a:r>
            <a:r>
              <a:rPr lang="en-US" altLang="zh-CN" dirty="0"/>
              <a:t>2.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自动将桌子状态改为</a:t>
            </a:r>
            <a:r>
              <a:rPr lang="en-US" altLang="zh-CN" dirty="0"/>
              <a:t>"</a:t>
            </a:r>
            <a:r>
              <a:rPr lang="zh-CN" altLang="en-US" dirty="0"/>
              <a:t>红色</a:t>
            </a:r>
            <a:r>
              <a:rPr lang="en-US" altLang="zh-CN" dirty="0"/>
              <a:t>-</a:t>
            </a:r>
            <a:r>
              <a:rPr lang="zh-CN" altLang="en-US" dirty="0"/>
              <a:t>脏污</a:t>
            </a:r>
            <a:r>
              <a:rPr lang="en-US" altLang="zh-CN" dirty="0"/>
              <a:t>"(b) </a:t>
            </a:r>
            <a:r>
              <a:rPr lang="zh-CN" altLang="en-US" dirty="0"/>
              <a:t>向已登录清洁员发送清洁通知</a:t>
            </a:r>
            <a:r>
              <a:rPr lang="en-US" altLang="zh-CN" dirty="0"/>
              <a:t>(c) </a:t>
            </a:r>
            <a:r>
              <a:rPr lang="zh-CN" altLang="en-US" dirty="0"/>
              <a:t>在界面中高亮显示该桌子</a:t>
            </a:r>
            <a:endParaRPr lang="en-US" altLang="zh-CN" dirty="0"/>
          </a:p>
          <a:p>
            <a:r>
              <a:rPr lang="zh-CN" altLang="en-US" dirty="0"/>
              <a:t>← </a:t>
            </a:r>
            <a:r>
              <a:rPr lang="en-US" altLang="zh-CN" dirty="0"/>
              <a:t>3. </a:t>
            </a:r>
            <a:r>
              <a:rPr lang="zh-CN" altLang="en-US" dirty="0"/>
              <a:t>清洁员确认接收通知，开始清洁流程</a:t>
            </a:r>
            <a:endParaRPr lang="en-US" altLang="zh-CN" dirty="0"/>
          </a:p>
          <a:p>
            <a:r>
              <a:rPr lang="zh-CN" altLang="en-US" b="1" dirty="0">
                <a:latin typeface="inherit"/>
              </a:rPr>
              <a:t>扩展的事件流（备用方案）：</a:t>
            </a:r>
            <a:endParaRPr lang="en-US" altLang="zh-CN" b="1" dirty="0">
              <a:latin typeface="inherit"/>
            </a:endParaRPr>
          </a:p>
          <a:p>
            <a:r>
              <a:rPr lang="zh-CN" altLang="en-US" i="1" dirty="0"/>
              <a:t>多个清洁通知同时产生</a:t>
            </a:r>
            <a:endParaRPr lang="en-US" altLang="zh-CN" i="1" dirty="0"/>
          </a:p>
          <a:p>
            <a:r>
              <a:rPr lang="zh-CN" altLang="en-US" dirty="0"/>
              <a:t>→ </a:t>
            </a:r>
            <a:r>
              <a:rPr lang="en-US" altLang="zh-CN" dirty="0"/>
              <a:t>1. </a:t>
            </a:r>
            <a:r>
              <a:rPr lang="zh-CN" altLang="en-US" dirty="0"/>
              <a:t>系统 </a:t>
            </a:r>
            <a:r>
              <a:rPr lang="en-US" altLang="zh-CN" dirty="0"/>
              <a:t>(a) </a:t>
            </a:r>
            <a:r>
              <a:rPr lang="zh-CN" altLang="en-US" dirty="0"/>
              <a:t>根据桌子位置和等待时间计算优先级</a:t>
            </a:r>
            <a:r>
              <a:rPr lang="en-US" altLang="zh-CN" dirty="0"/>
              <a:t>(b) </a:t>
            </a:r>
            <a:r>
              <a:rPr lang="zh-CN" altLang="en-US" dirty="0"/>
              <a:t>按优先级顺序显示通知</a:t>
            </a:r>
            <a:r>
              <a:rPr lang="en-US" altLang="zh-CN" dirty="0"/>
              <a:t>(c) </a:t>
            </a:r>
            <a:r>
              <a:rPr lang="zh-CN" altLang="en-US" dirty="0"/>
              <a:t>提供最优清洁路线建议← </a:t>
            </a:r>
            <a:r>
              <a:rPr lang="en-US" altLang="zh-CN" dirty="0"/>
              <a:t>2. </a:t>
            </a:r>
            <a:r>
              <a:rPr lang="zh-CN" altLang="en-US" dirty="0"/>
              <a:t>清洁员按照系统建议的顺序处理清洁任务</a:t>
            </a:r>
          </a:p>
        </p:txBody>
      </p:sp>
    </p:spTree>
    <p:extLst>
      <p:ext uri="{BB962C8B-B14F-4D97-AF65-F5344CB8AC3E}">
        <p14:creationId xmlns:p14="http://schemas.microsoft.com/office/powerpoint/2010/main" val="57743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/>
          <a:p>
            <a:pPr rtl="0"/>
            <a:r>
              <a:rPr lang="zh-CN" altLang="en-US"/>
              <a:t>产品优势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CN" altLang="en-US"/>
              <a:t>酷炫有形的产品</a:t>
            </a:r>
          </a:p>
          <a:p>
            <a:pPr rtl="0"/>
            <a:r>
              <a:rPr lang="zh-CN" altLang="en-US" noProof="1"/>
              <a:t>社区连接的区域 </a:t>
            </a:r>
          </a:p>
          <a:p>
            <a:pPr rtl="0"/>
            <a:r>
              <a:rPr lang="zh-CN" altLang="en-US" noProof="1"/>
              <a:t>在线商店和市场交换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CN"/>
              <a:t>20XX</a:t>
            </a:r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/>
          <a:p>
            <a:pPr rtl="0"/>
            <a:r>
              <a:rPr lang="zh-CN" altLang="en-US"/>
              <a:t>融资演讲稿</a:t>
            </a:r>
            <a:endParaRPr lang="zh-CN" altLang="en-US" dirty="0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CN" smtClean="0"/>
              <a:pPr rtl="0"/>
              <a:t>10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8236E7-014C-E17D-3032-8A52B1BFE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1" b="18881"/>
          <a:stretch>
            <a:fillRect/>
          </a:stretch>
        </p:blipFill>
        <p:spPr>
          <a:xfrm>
            <a:off x="0" y="0"/>
            <a:ext cx="12192000" cy="687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CN" smtClean="0"/>
              <a:pPr rtl="0"/>
              <a:t>11</a:t>
            </a:fld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539E866-5771-1357-7944-C085DD79A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72"/>
          <a:stretch>
            <a:fillRect/>
          </a:stretch>
        </p:blipFill>
        <p:spPr>
          <a:xfrm>
            <a:off x="4688379" y="188422"/>
            <a:ext cx="4511040" cy="666957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9A1D1D9-D064-A3B8-9984-E1053D9B3054}"/>
              </a:ext>
            </a:extLst>
          </p:cNvPr>
          <p:cNvSpPr txBox="1"/>
          <p:nvPr/>
        </p:nvSpPr>
        <p:spPr>
          <a:xfrm>
            <a:off x="598516" y="33349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zh-CN" altLang="en-US" sz="2800" b="1" dirty="0"/>
              <a:t>清洁员任务处理顺序图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0E8F-3E3A-159E-1E58-D9701ACD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61F7018-0287-C4FF-1AEE-472B4B9AFD66}"/>
              </a:ext>
            </a:extLst>
          </p:cNvPr>
          <p:cNvSpPr txBox="1"/>
          <p:nvPr/>
        </p:nvSpPr>
        <p:spPr>
          <a:xfrm>
            <a:off x="80242" y="583590"/>
            <a:ext cx="6143624" cy="36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系统功能迭代建议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68BF98-A784-2C7D-5799-C72C4D6284FA}"/>
              </a:ext>
            </a:extLst>
          </p:cNvPr>
          <p:cNvSpPr txBox="1"/>
          <p:nvPr/>
        </p:nvSpPr>
        <p:spPr>
          <a:xfrm>
            <a:off x="80242" y="1341744"/>
            <a:ext cx="11953010" cy="164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AI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辅助清洁：智能识别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+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工具推荐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742950" lvl="1" indent="-285750"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依据：文档中系统需 “自动收集清洁数据”（），可基于数据拓展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AI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功能；</a:t>
            </a:r>
          </a:p>
          <a:p>
            <a:pPr marL="742950" lvl="1" indent="-2857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迭代：在 终端中加入 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AI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污渍识别” 功能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——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同时记录 “污渍类型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-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清洁工具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-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清洁时长” 数据，形成知识库，后续为新清洁员提供指导。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85A4C7-2B54-4083-5F3E-68BE29B3EB86}"/>
              </a:ext>
            </a:extLst>
          </p:cNvPr>
          <p:cNvSpPr txBox="1"/>
          <p:nvPr/>
        </p:nvSpPr>
        <p:spPr>
          <a:xfrm>
            <a:off x="80242" y="3766927"/>
            <a:ext cx="11852275" cy="1833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2.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顾客参与清洁质量反馈，闭环服务体验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742950" lvl="1" indent="-2857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依据：文档提及 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customer interface”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的扩展方向（），可延伸至清洁质量；</a:t>
            </a: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迭代：顾客入座后，系统通过餐桌终端或扫码推送 “清洁质量评分”（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1-5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星），同时将评分纳入清洁员绩效，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提升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清洁质量。</a:t>
            </a:r>
          </a:p>
        </p:txBody>
      </p:sp>
    </p:spTree>
    <p:extLst>
      <p:ext uri="{BB962C8B-B14F-4D97-AF65-F5344CB8AC3E}">
        <p14:creationId xmlns:p14="http://schemas.microsoft.com/office/powerpoint/2010/main" val="2504516505"/>
      </p:ext>
    </p:extLst>
  </p:cSld>
  <p:clrMapOvr>
    <a:masterClrMapping/>
  </p:clrMapOvr>
</p:sld>
</file>

<file path=ppt/theme/theme1.xml><?xml version="1.0" encoding="utf-8"?>
<a:theme xmlns:a="http://schemas.openxmlformats.org/drawingml/2006/main" name="单线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0_TF56180624_Win32" id="{9D727254-2BE9-4C85-8515-511A9B42E99C}" vid="{98F67272-6949-4B1C-8084-EC46719CFC4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极简风格轻快销售幻灯片</Template>
  <TotalTime>914</TotalTime>
  <Words>1270</Words>
  <Application>Microsoft Office PowerPoint</Application>
  <PresentationFormat>宽屏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-apple-system</vt:lpstr>
      <vt:lpstr>inherit</vt:lpstr>
      <vt:lpstr>Inter</vt:lpstr>
      <vt:lpstr>Microsoft YaHei UI</vt:lpstr>
      <vt:lpstr>Arial</vt:lpstr>
      <vt:lpstr>Times New Roman</vt:lpstr>
      <vt:lpstr>单线</vt:lpstr>
      <vt:lpstr>餐厅自动化系统・清洁员（Busboy）角色深度解析</vt:lpstr>
      <vt:lpstr>目录</vt:lpstr>
      <vt:lpstr>角色定位与核心价值</vt:lpstr>
      <vt:lpstr>清洁员流程图</vt:lpstr>
      <vt:lpstr>用例图：清洁员的系统交互全景</vt:lpstr>
      <vt:lpstr>PowerPoint 演示文稿</vt:lpstr>
      <vt:lpstr>PowerPoint 演示文稿</vt:lpstr>
      <vt:lpstr>PowerPoint 演示文稿</vt:lpstr>
      <vt:lpstr>PowerPoint 演示文稿</vt:lpstr>
      <vt:lpstr>产品优势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鑫 曾</dc:creator>
  <cp:lastModifiedBy>鑫 曾</cp:lastModifiedBy>
  <cp:revision>9</cp:revision>
  <dcterms:created xsi:type="dcterms:W3CDTF">2025-11-02T12:07:50Z</dcterms:created>
  <dcterms:modified xsi:type="dcterms:W3CDTF">2025-11-03T04:30:12Z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